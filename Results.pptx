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9" r:id="rId4"/>
    <p:sldId id="287" r:id="rId5"/>
    <p:sldId id="283" r:id="rId6"/>
    <p:sldId id="285" r:id="rId7"/>
    <p:sldId id="286" r:id="rId8"/>
    <p:sldId id="276" r:id="rId9"/>
    <p:sldId id="277" r:id="rId10"/>
    <p:sldId id="278" r:id="rId11"/>
    <p:sldId id="282" r:id="rId1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2E57-CAE9-4B0C-8AB5-02CDAEFE5059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135-6D19-424A-9065-9AF936AEFB46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3180-103B-4CEA-A9FE-E2C88729ED67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4FAB-6C5A-4F8F-AC01-E5234E7F8B24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E0D8-4F55-43CF-BF93-8974C5369739}" type="datetime1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419B9-E974-4AEB-9AFF-1A01D68D7448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EB4D5-D780-435A-8B02-E5B9C1520538}" type="datetime1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AFEA-B87F-4B9C-80CA-54AE21848072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9B6E3-434F-4E7D-99C5-BC9D22DFAAC9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56B0-CEA1-4295-8D3A-CBB6AAF6DB91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E5B6E-267B-4378-A599-4D7AB4D7EAB6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8CE4D-E249-4FCD-8048-F501AC58F494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MINIPROJECT PRESENTATION (AWP-LIT)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7849" y="2096429"/>
            <a:ext cx="9635161" cy="163307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WEARABLE TEXTILE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PATCH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ANTENNA WITH AMC BACKING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9889-2C2E-EC39-2FC1-820173295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74" y="4035421"/>
            <a:ext cx="5219857" cy="2281614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			</a:t>
            </a:r>
          </a:p>
          <a:p>
            <a:pPr algn="just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 ANUSREE </a:t>
            </a:r>
            <a:endParaRPr lang="en-US" sz="8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RESHMI 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8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 FAZIYA     </a:t>
            </a:r>
          </a:p>
          <a:p>
            <a:pPr algn="just">
              <a:lnSpc>
                <a:spcPct val="12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THANUJA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		                                                                                                					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arenR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2" y="358688"/>
            <a:ext cx="121919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CAMPUS, ANNA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EC23501 – Antennas and Wave propagation (LIT)</a:t>
            </a: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– R2023 (5/8)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33369" y="794809"/>
            <a:ext cx="8525262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 smtClean="0">
                <a:solidFill>
                  <a:srgbClr val="44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OUR IDEA</a:t>
            </a:r>
            <a:endParaRPr lang="en-US" sz="4000" b="1" dirty="0">
              <a:solidFill>
                <a:srgbClr val="44434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58544" y="1615658"/>
            <a:ext cx="10553700" cy="4180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3267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antennas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 a vital role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wireless communication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applications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monitoring, smart textiles, and IoT devices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ts val="3267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microstrip patch antenna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preferred for wearable use due to its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size, low profile, lightweight design, and easy fabrication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ts val="3267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flexible and textile-based materials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ideal for integration into clothing or smart fabrics.</a:t>
            </a:r>
          </a:p>
          <a:p>
            <a:pPr marL="285750" indent="-285750" algn="just">
              <a:lnSpc>
                <a:spcPts val="3267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wearable conditions, antennas face challenges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bending, body absorption, and detuning effects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proximity to the human body.</a:t>
            </a:r>
          </a:p>
          <a:p>
            <a:pPr marL="285750" indent="-285750" algn="just">
              <a:lnSpc>
                <a:spcPts val="3267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microstrip patch antenna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a reliable communication link while maintaining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comfort, flexibility, and durability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on-body wireless operation.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55600" y="6330330"/>
            <a:ext cx="2743200" cy="365125"/>
          </a:xfrm>
        </p:spPr>
        <p:txBody>
          <a:bodyPr/>
          <a:lstStyle/>
          <a:p>
            <a:fld id="{DB53F476-C911-41CF-826F-A2C30236A8CD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0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714" y="603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ANTENNA DESIGN - CST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308" y="6356349"/>
            <a:ext cx="2743200" cy="365125"/>
          </a:xfrm>
        </p:spPr>
        <p:txBody>
          <a:bodyPr/>
          <a:lstStyle/>
          <a:p>
            <a:fld id="{FA1EE405-5C96-4820-893F-E106BCA7CF79}" type="datetime1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7221ACF-677C-8644-6136-42C462EE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423" y="1670832"/>
            <a:ext cx="4841391" cy="41954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CB03D9-2AED-762F-A556-BE8B90859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816" y="1670832"/>
            <a:ext cx="4346026" cy="412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7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135-6D19-424A-9065-9AF936AEFB46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MINIPROJECT PRESENTATION (AWP-LIT)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00AD6A-CD69-C464-0397-2F81EA77A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723212"/>
              </p:ext>
            </p:extLst>
          </p:nvPr>
        </p:nvGraphicFramePr>
        <p:xfrm>
          <a:off x="838200" y="873860"/>
          <a:ext cx="5436854" cy="4908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371">
                  <a:extLst>
                    <a:ext uri="{9D8B030D-6E8A-4147-A177-3AD203B41FA5}">
                      <a16:colId xmlns:a16="http://schemas.microsoft.com/office/drawing/2014/main" val="3632603969"/>
                    </a:ext>
                  </a:extLst>
                </a:gridCol>
                <a:gridCol w="651782">
                  <a:extLst>
                    <a:ext uri="{9D8B030D-6E8A-4147-A177-3AD203B41FA5}">
                      <a16:colId xmlns:a16="http://schemas.microsoft.com/office/drawing/2014/main" val="3132681189"/>
                    </a:ext>
                  </a:extLst>
                </a:gridCol>
                <a:gridCol w="1255059">
                  <a:extLst>
                    <a:ext uri="{9D8B030D-6E8A-4147-A177-3AD203B41FA5}">
                      <a16:colId xmlns:a16="http://schemas.microsoft.com/office/drawing/2014/main" val="3012282463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2253050491"/>
                    </a:ext>
                  </a:extLst>
                </a:gridCol>
                <a:gridCol w="1716501">
                  <a:extLst>
                    <a:ext uri="{9D8B030D-6E8A-4147-A177-3AD203B41FA5}">
                      <a16:colId xmlns:a16="http://schemas.microsoft.com/office/drawing/2014/main" val="2684495522"/>
                    </a:ext>
                  </a:extLst>
                </a:gridCol>
              </a:tblGrid>
              <a:tr h="615090">
                <a:tc>
                  <a:txBody>
                    <a:bodyPr/>
                    <a:lstStyle/>
                    <a:p>
                      <a:r>
                        <a:rPr lang="en-IN" sz="1200" b="1" dirty="0"/>
                        <a:t>Parameter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Symbol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Value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Unit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Description</a:t>
                      </a:r>
                      <a:endParaRPr lang="en-IN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99579"/>
                  </a:ext>
                </a:extLst>
              </a:tr>
              <a:tr h="615090">
                <a:tc>
                  <a:txBody>
                    <a:bodyPr/>
                    <a:lstStyle/>
                    <a:p>
                      <a:r>
                        <a:rPr lang="en-IN" sz="1200"/>
                        <a:t>Center 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Design 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653019"/>
                  </a:ext>
                </a:extLst>
              </a:tr>
              <a:tr h="629121">
                <a:tc>
                  <a:txBody>
                    <a:bodyPr/>
                    <a:lstStyle/>
                    <a:p>
                      <a:r>
                        <a:rPr lang="en-IN" sz="1200" dirty="0"/>
                        <a:t>Substrate 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Textile (εr = 1.7, tan δ = 0.02)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Flexible dielectric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170695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r>
                        <a:rPr lang="en-IN" sz="1200"/>
                        <a:t>Substrate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120 × 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Length × Width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69848"/>
                  </a:ext>
                </a:extLst>
              </a:tr>
              <a:tr h="452319">
                <a:tc>
                  <a:txBody>
                    <a:bodyPr/>
                    <a:lstStyle/>
                    <a:p>
                      <a:r>
                        <a:rPr lang="en-IN" sz="1200" dirty="0"/>
                        <a:t>Substrate Thickness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Height of substrate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318437"/>
                  </a:ext>
                </a:extLst>
              </a:tr>
              <a:tr h="615090">
                <a:tc>
                  <a:txBody>
                    <a:bodyPr/>
                    <a:lstStyle/>
                    <a:p>
                      <a:r>
                        <a:rPr lang="en-IN" sz="1200"/>
                        <a:t>Patch Dimensions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 × 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60 x 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Radiating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583707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r>
                        <a:rPr lang="en-IN" sz="1200"/>
                        <a:t>Feed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Inset microstrip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For impedance matching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14628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r>
                        <a:rPr lang="en-IN" sz="1200"/>
                        <a:t>Inset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From patch edge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387155"/>
                  </a:ext>
                </a:extLst>
              </a:tr>
              <a:tr h="629121">
                <a:tc>
                  <a:txBody>
                    <a:bodyPr/>
                    <a:lstStyle/>
                    <a:p>
                      <a:r>
                        <a:rPr lang="en-IN" sz="1200"/>
                        <a:t>AMC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 × 4 array (26 × 26 mm cell)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In-phase reflective surface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7292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BD8A86A-B61B-CF01-0378-70920E1C7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695" y="2460628"/>
            <a:ext cx="4460631" cy="330131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037" y="873860"/>
            <a:ext cx="480528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39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ECC9-9D08-7F25-5391-1FD62539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31" y="353865"/>
            <a:ext cx="10515600" cy="101107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sz="3600" b="1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(Without</a:t>
            </a:r>
            <a:r>
              <a:rPr lang="en-US" sz="36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AE1E9-A4E3-E2C3-D183-8BEEB1913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714" y="1423717"/>
            <a:ext cx="10515600" cy="4351338"/>
          </a:xfrm>
        </p:spPr>
        <p:txBody>
          <a:bodyPr/>
          <a:lstStyle/>
          <a:p>
            <a:r>
              <a:rPr lang="en-US" dirty="0"/>
              <a:t>Comparison of Gain Plot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DDB17-3480-4246-D66A-0A41DDE9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2135-6D19-424A-9065-9AF936AEFB46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0EE87-3F65-2655-845A-437460409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72AB2-09A3-A11D-4CB1-793AB4E2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F29AB8-D6CD-F655-B611-19C9721E7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4589B4-FFCA-C357-CA38-44787CD76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F5D587-3421-0617-FD44-61FEA196D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732" y="1915317"/>
            <a:ext cx="98382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31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5545" y="1391234"/>
            <a:ext cx="3971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Comparison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VSWR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Plot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07" y="144707"/>
            <a:ext cx="1053605" cy="10456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9760" y="106286"/>
            <a:ext cx="1638807" cy="11124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269" y="2054284"/>
            <a:ext cx="9956888" cy="410361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21030" y="6465214"/>
            <a:ext cx="1260449" cy="196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8000">
              <a:lnSpc>
                <a:spcPts val="1240"/>
              </a:lnSpc>
            </a:pPr>
            <a:r>
              <a:rPr lang="en-IN" spc="-10"/>
              <a:t>11/20/2025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854702" y="6465214"/>
            <a:ext cx="248285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MINIPROJECT</a:t>
            </a:r>
            <a:r>
              <a:rPr lang="en-IN" spc="40"/>
              <a:t> </a:t>
            </a:r>
            <a:r>
              <a:rPr lang="en-IN" spc="-25"/>
              <a:t>PRESENTATION</a:t>
            </a:r>
            <a:r>
              <a:rPr lang="en-IN" spc="55"/>
              <a:t> </a:t>
            </a:r>
            <a:r>
              <a:rPr lang="en-IN" spc="-20"/>
              <a:t>(AWP-LIT)</a:t>
            </a:r>
            <a:endParaRPr spc="-2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6</a:t>
            </a:fld>
            <a:endParaRPr spc="-25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33E3D05-A738-1038-BC47-C62BE4574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31" y="353865"/>
            <a:ext cx="10515600" cy="101107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sz="3600" b="1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(Without</a:t>
            </a:r>
            <a:r>
              <a:rPr lang="en-US" sz="36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AMC)</a:t>
            </a:r>
            <a:endParaRPr lang="en-IN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5545" y="1391234"/>
            <a:ext cx="6309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Comparison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Return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Loss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Characteristics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07" y="144707"/>
            <a:ext cx="1053605" cy="10456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9760" y="106286"/>
            <a:ext cx="1638807" cy="11124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802" y="2067242"/>
            <a:ext cx="9947017" cy="425408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21030" y="6465214"/>
            <a:ext cx="1260449" cy="196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508000">
              <a:lnSpc>
                <a:spcPts val="1240"/>
              </a:lnSpc>
            </a:pPr>
            <a:r>
              <a:rPr lang="en-IN" spc="-10"/>
              <a:t>11/20/2025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854702" y="6465214"/>
            <a:ext cx="248285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 spc="-10"/>
              <a:t>MINIPROJECT</a:t>
            </a:r>
            <a:r>
              <a:rPr lang="en-IN" spc="40"/>
              <a:t> </a:t>
            </a:r>
            <a:r>
              <a:rPr lang="en-IN" spc="-25"/>
              <a:t>PRESENTATION</a:t>
            </a:r>
            <a:r>
              <a:rPr lang="en-IN" spc="55"/>
              <a:t> </a:t>
            </a:r>
            <a:r>
              <a:rPr lang="en-IN" spc="-20"/>
              <a:t>(AWP-LIT)</a:t>
            </a:r>
            <a:endParaRPr spc="-2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068557" y="646521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7</a:t>
            </a:fld>
            <a:endParaRPr spc="-25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B0B5D22-FDED-C9A1-E41B-1788D65C3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31" y="353865"/>
            <a:ext cx="10515600" cy="101107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lang="en-US" sz="3600" b="1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(Without</a:t>
            </a:r>
            <a:r>
              <a:rPr lang="en-US" sz="3600" b="1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b="1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AMC)</a:t>
            </a:r>
            <a:endParaRPr lang="en-IN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714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FABRICATED ANTENNA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EE405-5C96-4820-893F-E106BCA7CF79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304930" y="16014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60147"/>
            <a:ext cx="1638850" cy="1112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F5EC54-459E-4E49-8DDA-504C7AA62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261" y="1566574"/>
            <a:ext cx="5181739" cy="44341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E49019-B0D8-E252-FBF2-33EABC9B1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614" y="1566573"/>
            <a:ext cx="4886700" cy="451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69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494F-A278-474E-AEA7-F0D280EA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61B6-FE70-F2E8-277B-3CE97BB0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714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S11 OUTPUT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D8ABC-02C2-CC7C-5606-0F366217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EE405-5C96-4820-893F-E106BCA7CF79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B022A-E291-379A-E7C9-F3F08AF6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24518-D784-8CD9-0B5B-A9CEC9DD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463D5-2C86-7985-EBB3-F73607CA2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304930" y="16014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4CDEC4C-4FE1-3055-4E5D-1CCA76256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60147"/>
            <a:ext cx="1638850" cy="1112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BF286F-9DB4-571A-0A99-74EB6612F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932570" y="772136"/>
            <a:ext cx="2490848" cy="42223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04B261-0165-EBF3-D81A-5EE02C966E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532643" y="1258694"/>
            <a:ext cx="3902195" cy="574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0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B137-B62D-1994-E187-F69BCE0F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119A-D723-BA3C-6B5A-674E12B7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714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VSWR &amp; OTHER OUTPUTS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23EF9-5741-9E6A-3EBC-DDD7E7F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EE405-5C96-4820-893F-E106BCA7CF79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5AE6C-12EC-4000-78D5-6DC936D20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0456F-9082-8B6C-3B2E-D3BAC733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38548-117E-E976-9075-8BAEF13EC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304930" y="16014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87040A8A-7B0F-DE8B-CC28-67B469DB3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60147"/>
            <a:ext cx="1638850" cy="11124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095959-0D93-396D-3094-50511B97B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558482" y="1088339"/>
            <a:ext cx="4195481" cy="54253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6B670F-8C67-FE11-6F6B-F2DE0D8B1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231413" y="2817339"/>
            <a:ext cx="2193482" cy="42179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D8D35C-4BFE-051A-DAC5-368EF36A57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319409" y="468502"/>
            <a:ext cx="2017494" cy="421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99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72573-5309-4F80-AFA5-5007C364F15C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MINIPROJECT PRESENTATION (AWP-LIT)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401</Words>
  <Application>Microsoft Office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WEARABLE TEXTILE PATCH ANTENNA WITH AMC BACKING  </vt:lpstr>
      <vt:lpstr>PowerPoint Presentation</vt:lpstr>
      <vt:lpstr>ANTENNA DESIGN - CST</vt:lpstr>
      <vt:lpstr>PARAMETERS</vt:lpstr>
      <vt:lpstr>Comparison (Without and With AMC)</vt:lpstr>
      <vt:lpstr>Comparison (Without and With AMC)</vt:lpstr>
      <vt:lpstr>Comparison (Without and With AMC)</vt:lpstr>
      <vt:lpstr>FABRICATED ANTENNA</vt:lpstr>
      <vt:lpstr>MEASURED S11 OUTPUT</vt:lpstr>
      <vt:lpstr>VSWR &amp; OTHER OUTPUTS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WEARABLE TEXTILE PATCH ANTENNA WITH AMC BACKING  </dc:title>
  <dc:creator>Admin</dc:creator>
  <cp:lastModifiedBy>USER</cp:lastModifiedBy>
  <cp:revision>7</cp:revision>
  <dcterms:modified xsi:type="dcterms:W3CDTF">2025-12-25T06:06:08Z</dcterms:modified>
</cp:coreProperties>
</file>